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5"/>
  </p:notesMasterIdLst>
  <p:handoutMasterIdLst>
    <p:handoutMasterId r:id="rId16"/>
  </p:handoutMasterIdLst>
  <p:sldIdLst>
    <p:sldId id="256" r:id="rId5"/>
    <p:sldId id="257" r:id="rId6"/>
    <p:sldId id="284" r:id="rId7"/>
    <p:sldId id="301" r:id="rId8"/>
    <p:sldId id="302" r:id="rId9"/>
    <p:sldId id="303" r:id="rId10"/>
    <p:sldId id="304" r:id="rId11"/>
    <p:sldId id="305" r:id="rId12"/>
    <p:sldId id="293" r:id="rId13"/>
    <p:sldId id="300" r:id="rId14"/>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1234" y="43"/>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5/1/2026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5/1/2026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US"/>
          </a:p>
        </p:txBody>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txBody>
          <a:bodyPr/>
          <a:lstStyle/>
          <a:p>
            <a:endParaRPr lang="en-US"/>
          </a:p>
        </p:txBody>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US"/>
            </a:p>
          </p:txBody>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US"/>
            </a:p>
          </p:txBody>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US"/>
            </a:p>
          </p:txBody>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US"/>
            </a:p>
          </p:txBody>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1" y="840632"/>
            <a:ext cx="9076267" cy="4933635"/>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Industry Oriented Hands on Experience (22CS422)</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r>
              <a:rPr lang="en-US" sz="4400" b="1" dirty="0">
                <a:latin typeface="Cambria" pitchFamily="34" charset="0"/>
                <a:ea typeface="Cambria" pitchFamily="34" charset="-122"/>
                <a:cs typeface="Times New Roman" panose="02020603050405020304" pitchFamily="18" charset="0"/>
              </a:rPr>
              <a:t>	</a:t>
            </a:r>
            <a:r>
              <a:rPr lang="en-US" sz="4400" b="1" dirty="0" err="1">
                <a:latin typeface="Cambria" pitchFamily="34" charset="0"/>
                <a:ea typeface="Cambria" pitchFamily="34" charset="-122"/>
                <a:cs typeface="Times New Roman" panose="02020603050405020304" pitchFamily="18" charset="0"/>
              </a:rPr>
              <a:t>CallSight</a:t>
            </a:r>
            <a:r>
              <a:rPr lang="en-US" sz="4400" b="1" dirty="0">
                <a:latin typeface="Cambria" pitchFamily="34" charset="0"/>
                <a:ea typeface="Cambria" pitchFamily="34" charset="-122"/>
                <a:cs typeface="Times New Roman" panose="02020603050405020304" pitchFamily="18" charset="0"/>
              </a:rPr>
              <a:t> - </a:t>
            </a:r>
            <a:r>
              <a:rPr lang="en-US" sz="4400" dirty="0">
                <a:latin typeface="Calibri" pitchFamily="34" charset="0"/>
                <a:ea typeface="Calibri" pitchFamily="34" charset="-122"/>
                <a:cs typeface="Calibri" pitchFamily="34" charset="-120"/>
              </a:rPr>
              <a:t>A Multi-Tenant Call 	Analytics Platform for Automated 	Agent Evaluation</a:t>
            </a:r>
            <a:endParaRPr lang="en-US" sz="4400" i="1"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spc="-1" dirty="0">
                <a:solidFill>
                  <a:srgbClr val="000000"/>
                </a:solidFill>
                <a:latin typeface="Times New Roman" panose="02020603050405020304" pitchFamily="18" charset="0"/>
                <a:ea typeface="MS PGothic"/>
                <a:cs typeface="Times New Roman" panose="02020603050405020304" pitchFamily="18" charset="0"/>
              </a:rPr>
              <a:t>Sarbraj Singh, Yatharth, Keshav Yogi</a:t>
            </a: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  (2210992258), (2210992568), (2210991788)</a:t>
            </a: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Dr. Gurpreet Singh</a:t>
            </a: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Introduction</a:t>
            </a: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rPr>
              <a:pPr algn="r">
                <a:lnSpc>
                  <a:spcPct val="100000"/>
                </a:lnSpc>
              </a:pPr>
              <a:t>2</a:t>
            </a:fld>
            <a:endParaRPr lang="en-US" sz="1200" b="1" strike="noStrike" spc="-1">
              <a:solidFill>
                <a:srgbClr val="000000"/>
              </a:solidFill>
              <a:latin typeface="Calibri"/>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marL="139700" lvl="0">
              <a:lnSpc>
                <a:spcPct val="200000"/>
              </a:lnSpc>
              <a:buClr>
                <a:srgbClr val="000000"/>
              </a:buClr>
              <a:buSzPts val="1400"/>
            </a:pPr>
            <a:r>
              <a:rPr lang="en-US" sz="2000" dirty="0">
                <a:solidFill>
                  <a:srgbClr val="000000"/>
                </a:solidFill>
                <a:latin typeface="Times New Roman" panose="02020603050405020304" pitchFamily="18" charset="0"/>
              </a:rPr>
              <a:t>CallSight is a multi-tenant, end-to-end call analytics platform for automated agent evaluation. Contact centers process hundreds of thousands of calls daily, yet most quality issues go undetected. Manual QA covers fewer than 5% of daily call volume — the vast majority goes unobserved. Coaching feedback may take days or weeks to reach agents, letting errors repeat unchecked. Two supervisors assessing the same call often assign different scores — causing inconsistency. </a:t>
            </a:r>
            <a:r>
              <a:rPr lang="en-US" sz="2000" dirty="0" err="1">
                <a:solidFill>
                  <a:srgbClr val="000000"/>
                </a:solidFill>
                <a:latin typeface="Times New Roman" panose="02020603050405020304" pitchFamily="18" charset="0"/>
              </a:rPr>
              <a:t>CallSight</a:t>
            </a:r>
            <a:r>
              <a:rPr lang="en-US" sz="2000" dirty="0">
                <a:solidFill>
                  <a:srgbClr val="000000"/>
                </a:solidFill>
                <a:latin typeface="Times New Roman" panose="02020603050405020304" pitchFamily="18" charset="0"/>
              </a:rPr>
              <a:t> addresses these gaps through automated transcription, evaluation, and role-differentiated reporting.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 Problem Statement</a:t>
            </a: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rPr>
              <a:pPr algn="r">
                <a:lnSpc>
                  <a:spcPct val="100000"/>
                </a:lnSpc>
              </a:pPr>
              <a:t>3</a:t>
            </a:fld>
            <a:endParaRPr lang="en-US" sz="1200" b="1" strike="noStrike" spc="-1">
              <a:solidFill>
                <a:srgbClr val="000000"/>
              </a:solidFill>
              <a:latin typeface="Calibri"/>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marL="457200" lvl="0" indent="-317500">
              <a:lnSpc>
                <a:spcPct val="150000"/>
              </a:lnSpc>
              <a:buClr>
                <a:srgbClr val="000000"/>
              </a:buClr>
              <a:buSzPts val="1400"/>
              <a:buChar char="●"/>
            </a:pPr>
            <a:r>
              <a:rPr lang="en-US" sz="2000" dirty="0">
                <a:solidFill>
                  <a:srgbClr val="000000"/>
                </a:solidFill>
                <a:latin typeface="Times New Roman" panose="02020603050405020304" pitchFamily="18" charset="0"/>
              </a:rPr>
              <a:t>Less than 5% of calls are reviewed — the vast majority of quality issues go undetected daily.</a:t>
            </a:r>
          </a:p>
          <a:p>
            <a:pPr marL="457200" lvl="0" indent="-317500">
              <a:lnSpc>
                <a:spcPct val="150000"/>
              </a:lnSpc>
              <a:buClr>
                <a:srgbClr val="000000"/>
              </a:buClr>
              <a:buSzPts val="1400"/>
              <a:buChar char="●"/>
            </a:pPr>
            <a:r>
              <a:rPr lang="en-US" sz="2000" dirty="0">
                <a:solidFill>
                  <a:srgbClr val="000000"/>
                </a:solidFill>
                <a:latin typeface="Times New Roman" panose="02020603050405020304" pitchFamily="18" charset="0"/>
              </a:rPr>
              <a:t>Feedback Lag: Coaching may take days or weeks to reach agents, allowing errors to repeat unchecked.</a:t>
            </a:r>
          </a:p>
          <a:p>
            <a:pPr marL="457200" lvl="0" indent="-317500">
              <a:lnSpc>
                <a:spcPct val="150000"/>
              </a:lnSpc>
              <a:buClr>
                <a:srgbClr val="000000"/>
              </a:buClr>
              <a:buSzPts val="1400"/>
              <a:buChar char="●"/>
            </a:pPr>
            <a:r>
              <a:rPr lang="en-US" sz="2000" dirty="0">
                <a:solidFill>
                  <a:srgbClr val="000000"/>
                </a:solidFill>
                <a:latin typeface="Times New Roman" panose="02020603050405020304" pitchFamily="18" charset="0"/>
              </a:rPr>
              <a:t>Inconsistency: Two supervisors assessing the same call often assign different scores to identical behavior.</a:t>
            </a:r>
          </a:p>
          <a:p>
            <a:pPr marL="457200" lvl="0" indent="-317500">
              <a:lnSpc>
                <a:spcPct val="150000"/>
              </a:lnSpc>
              <a:buClr>
                <a:srgbClr val="000000"/>
              </a:buClr>
              <a:buSzPts val="1400"/>
              <a:buChar char="●"/>
            </a:pPr>
            <a:r>
              <a:rPr lang="en-US" sz="2000" dirty="0">
                <a:solidFill>
                  <a:srgbClr val="000000"/>
                </a:solidFill>
                <a:latin typeface="Times New Roman" panose="02020603050405020304" pitchFamily="18" charset="0"/>
              </a:rPr>
              <a:t>Scalability: Manual QA cannot scale to match hundreds of thousands of calls processed every day.</a:t>
            </a:r>
          </a:p>
          <a:p>
            <a:pPr marL="457200" lvl="0" indent="-317500">
              <a:lnSpc>
                <a:spcPct val="150000"/>
              </a:lnSpc>
              <a:buClr>
                <a:srgbClr val="000000"/>
              </a:buClr>
              <a:buSzPts val="1400"/>
              <a:buChar char="●"/>
            </a:pPr>
            <a:r>
              <a:rPr lang="en-US" sz="2000" dirty="0">
                <a:solidFill>
                  <a:srgbClr val="000000"/>
                </a:solidFill>
                <a:latin typeface="Times New Roman" panose="02020603050405020304" pitchFamily="18" charset="0"/>
              </a:rPr>
              <a:t>Business Impact: Undetected compliance violations can lead to regulatory penalties and customer dissatisfaction.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FC41A-BC4F-7929-A276-18DF05599D88}"/>
              </a:ext>
            </a:extLst>
          </p:cNvPr>
          <p:cNvSpPr>
            <a:spLocks noGrp="1"/>
          </p:cNvSpPr>
          <p:nvPr>
            <p:ph type="title"/>
          </p:nvPr>
        </p:nvSpPr>
        <p:spPr/>
        <p:txBody>
          <a:bodyPr/>
          <a:lstStyle/>
          <a:p>
            <a:r>
              <a:rPr lang="en-US" dirty="0"/>
              <a:t>            Objective</a:t>
            </a:r>
          </a:p>
        </p:txBody>
      </p:sp>
      <p:sp>
        <p:nvSpPr>
          <p:cNvPr id="3" name="Subtitle 2">
            <a:extLst>
              <a:ext uri="{FF2B5EF4-FFF2-40B4-BE49-F238E27FC236}">
                <a16:creationId xmlns:a16="http://schemas.microsoft.com/office/drawing/2014/main" id="{358FB3D7-B88C-1755-E338-74990BBBFF4F}"/>
              </a:ext>
            </a:extLst>
          </p:cNvPr>
          <p:cNvSpPr>
            <a:spLocks noGrp="1"/>
          </p:cNvSpPr>
          <p:nvPr>
            <p:ph type="subTitle"/>
          </p:nvPr>
        </p:nvSpPr>
        <p:spPr>
          <a:xfrm>
            <a:off x="135467" y="914040"/>
            <a:ext cx="8873066" cy="5647627"/>
          </a:xfrm>
        </p:spPr>
        <p:txBody>
          <a:bodyPr/>
          <a:lstStyle/>
          <a:p>
            <a:pPr>
              <a:lnSpc>
                <a:spcPct val="150000"/>
              </a:lnSpc>
            </a:pPr>
            <a:r>
              <a:rPr lang="en-US" sz="2000" dirty="0">
                <a:latin typeface="Times New Roman" panose="02020603050405020304" pitchFamily="18" charset="0"/>
                <a:cs typeface="Times New Roman" panose="02020603050405020304" pitchFamily="18" charset="0"/>
              </a:rPr>
              <a:t>To develop an automated call analytics system for evaluating agent performance using speech-to-text transcripts</a:t>
            </a:r>
          </a:p>
          <a:p>
            <a:pPr>
              <a:lnSpc>
                <a:spcPct val="150000"/>
              </a:lnSpc>
            </a:pPr>
            <a:r>
              <a:rPr lang="en-US" sz="2000" dirty="0">
                <a:latin typeface="Times New Roman" panose="02020603050405020304" pitchFamily="18" charset="0"/>
                <a:cs typeface="Times New Roman" panose="02020603050405020304" pitchFamily="18" charset="0"/>
              </a:rPr>
              <a:t>To implement rule-based scoring using pattern matching for identifying key parameters such as greeting, resolution, and compliance</a:t>
            </a:r>
          </a:p>
          <a:p>
            <a:pPr>
              <a:lnSpc>
                <a:spcPct val="150000"/>
              </a:lnSpc>
            </a:pPr>
            <a:r>
              <a:rPr lang="en-US" sz="2000" dirty="0">
                <a:latin typeface="Times New Roman" panose="02020603050405020304" pitchFamily="18" charset="0"/>
                <a:cs typeface="Times New Roman" panose="02020603050405020304" pitchFamily="18" charset="0"/>
              </a:rPr>
              <a:t>To process and analyze large volumes of call data efficiently using Java, Spring Boot, and Spring Batch</a:t>
            </a:r>
          </a:p>
          <a:p>
            <a:pPr>
              <a:lnSpc>
                <a:spcPct val="150000"/>
              </a:lnSpc>
            </a:pPr>
            <a:r>
              <a:rPr lang="en-US" sz="2000" dirty="0">
                <a:latin typeface="Times New Roman" panose="02020603050405020304" pitchFamily="18" charset="0"/>
                <a:cs typeface="Times New Roman" panose="02020603050405020304" pitchFamily="18" charset="0"/>
              </a:rPr>
              <a:t>To design a multi-tenant architecture that supports multiple clients with secure and isolated data handling</a:t>
            </a:r>
          </a:p>
          <a:p>
            <a:pPr>
              <a:lnSpc>
                <a:spcPct val="150000"/>
              </a:lnSpc>
            </a:pPr>
            <a:r>
              <a:rPr lang="en-US" sz="2000" dirty="0">
                <a:latin typeface="Times New Roman" panose="02020603050405020304" pitchFamily="18" charset="0"/>
                <a:cs typeface="Times New Roman" panose="02020603050405020304" pitchFamily="18" charset="0"/>
              </a:rPr>
              <a:t>To extract meaningful insights such as customer sentiment, call intent, and agent behavior from conversation data</a:t>
            </a:r>
          </a:p>
          <a:p>
            <a:pPr>
              <a:lnSpc>
                <a:spcPct val="150000"/>
              </a:lnSpc>
            </a:pPr>
            <a:r>
              <a:rPr lang="en-US" sz="2000" dirty="0">
                <a:latin typeface="Times New Roman" panose="02020603050405020304" pitchFamily="18" charset="0"/>
                <a:cs typeface="Times New Roman" panose="02020603050405020304" pitchFamily="18" charset="0"/>
              </a:rPr>
              <a:t>To improve overall customer service quality by providing actionable feedback on agent performance</a:t>
            </a:r>
          </a:p>
          <a:p>
            <a:pPr>
              <a:lnSpc>
                <a:spcPct val="150000"/>
              </a:lnSpc>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08043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774FA-F10F-E66E-4D14-03446F22E8C0}"/>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    Literature Review</a:t>
            </a:r>
            <a:endParaRPr lang="en-US" dirty="0"/>
          </a:p>
        </p:txBody>
      </p:sp>
      <p:sp>
        <p:nvSpPr>
          <p:cNvPr id="3" name="Subtitle 2">
            <a:extLst>
              <a:ext uri="{FF2B5EF4-FFF2-40B4-BE49-F238E27FC236}">
                <a16:creationId xmlns:a16="http://schemas.microsoft.com/office/drawing/2014/main" id="{80D6A1C7-653F-AD9A-CD7F-DC7BFEC96C55}"/>
              </a:ext>
            </a:extLst>
          </p:cNvPr>
          <p:cNvSpPr>
            <a:spLocks noGrp="1"/>
          </p:cNvSpPr>
          <p:nvPr>
            <p:ph type="subTitle"/>
          </p:nvPr>
        </p:nvSpPr>
        <p:spPr>
          <a:xfrm>
            <a:off x="270933" y="1583266"/>
            <a:ext cx="8678334" cy="4842933"/>
          </a:xfrm>
        </p:spPr>
        <p:txBody>
          <a:bodyPr/>
          <a:lstStyle/>
          <a:p>
            <a:pPr>
              <a:lnSpc>
                <a:spcPct val="150000"/>
              </a:lnSpc>
            </a:pPr>
            <a:r>
              <a:rPr lang="en-US" sz="2000" dirty="0">
                <a:latin typeface="Times New Roman" panose="02020603050405020304" pitchFamily="18" charset="0"/>
                <a:cs typeface="Times New Roman" panose="02020603050405020304" pitchFamily="18" charset="0"/>
              </a:rPr>
              <a:t>Various research studies have explored different techniques for call analytics and agent performance evaluation. Traditional approaches rely on manual quality monitoring, which is time-consuming and lacks scalability. With the advancement of speech recognition technologies, automated speech-to-text systems have enabled large-scale analysis of customer interactions. Natural Language Processing (NLP) techniques are widely used to extract insights such as sentiment, intent, and key conversation patterns from transcripts. Rule-based systems are commonly applied for evaluating predefined parameters like greeting, compliance, and resolution due to their transparency and interpretability. More recently, machine learning and deep learning models have been introduced to improve accuracy by identifying complex patterns in conversations. These approaches demonstrate the effectiveness of automated systems in enhancing customer experience and agent performance evaluation.</a:t>
            </a:r>
          </a:p>
          <a:p>
            <a:pPr marL="0" indent="0">
              <a:lnSpc>
                <a:spcPct val="150000"/>
              </a:lnSpc>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21862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08D83-B3EF-B5D2-A60B-D46E2FE918CF}"/>
              </a:ext>
            </a:extLst>
          </p:cNvPr>
          <p:cNvSpPr>
            <a:spLocks noGrp="1"/>
          </p:cNvSpPr>
          <p:nvPr>
            <p:ph type="title"/>
          </p:nvPr>
        </p:nvSpPr>
        <p:spPr/>
        <p:txBody>
          <a:bodyPr/>
          <a:lstStyle/>
          <a:p>
            <a:r>
              <a:rPr lang="en-IN" dirty="0"/>
              <a:t>Methodology</a:t>
            </a:r>
            <a:endParaRPr lang="en-US" dirty="0"/>
          </a:p>
        </p:txBody>
      </p:sp>
      <p:sp>
        <p:nvSpPr>
          <p:cNvPr id="3" name="Subtitle 2">
            <a:extLst>
              <a:ext uri="{FF2B5EF4-FFF2-40B4-BE49-F238E27FC236}">
                <a16:creationId xmlns:a16="http://schemas.microsoft.com/office/drawing/2014/main" id="{079BEFBA-6127-5A82-2CCA-E05D9936310D}"/>
              </a:ext>
            </a:extLst>
          </p:cNvPr>
          <p:cNvSpPr>
            <a:spLocks noGrp="1"/>
          </p:cNvSpPr>
          <p:nvPr>
            <p:ph type="subTitle"/>
          </p:nvPr>
        </p:nvSpPr>
        <p:spPr>
          <a:xfrm>
            <a:off x="135466" y="1507067"/>
            <a:ext cx="8856133" cy="5350932"/>
          </a:xfrm>
        </p:spPr>
        <p:txBody>
          <a:bodyPr/>
          <a:lstStyle/>
          <a:p>
            <a:pPr>
              <a:lnSpc>
                <a:spcPct val="150000"/>
              </a:lnSpc>
            </a:pPr>
            <a:endParaRPr lang="en-US" sz="2000" dirty="0">
              <a:latin typeface="Times New Roman" panose="02020603050405020304" pitchFamily="18" charset="0"/>
              <a:cs typeface="Times New Roman" panose="02020603050405020304" pitchFamily="18" charset="0"/>
            </a:endParaRPr>
          </a:p>
          <a:p>
            <a:pPr>
              <a:lnSpc>
                <a:spcPct val="100000"/>
              </a:lnSpc>
            </a:pPr>
            <a:r>
              <a:rPr lang="en-US" sz="2000" dirty="0">
                <a:latin typeface="Times New Roman" panose="02020603050405020304" pitchFamily="18" charset="0"/>
                <a:cs typeface="Times New Roman" panose="02020603050405020304" pitchFamily="18" charset="0"/>
              </a:rPr>
              <a:t>The system analyzes call conversations and evaluates agent performance using a rule-based approach with scalable backend processing.</a:t>
            </a:r>
          </a:p>
          <a:p>
            <a:pPr>
              <a:lnSpc>
                <a:spcPct val="150000"/>
              </a:lnSpc>
            </a:pPr>
            <a:r>
              <a:rPr lang="en-US" sz="2000" b="1" dirty="0">
                <a:latin typeface="Times New Roman" panose="02020603050405020304" pitchFamily="18" charset="0"/>
                <a:cs typeface="Times New Roman" panose="02020603050405020304" pitchFamily="18" charset="0"/>
              </a:rPr>
              <a:t>Data Collection:</a:t>
            </a:r>
            <a:r>
              <a:rPr lang="en-US" sz="2000" dirty="0">
                <a:latin typeface="Times New Roman" panose="02020603050405020304" pitchFamily="18" charset="0"/>
                <a:cs typeface="Times New Roman" panose="02020603050405020304" pitchFamily="18" charset="0"/>
              </a:rPr>
              <a:t> Call recordings are converted into text using speech-to-text, along with metadata like agent ID and timestamps.</a:t>
            </a:r>
          </a:p>
          <a:p>
            <a:pPr>
              <a:lnSpc>
                <a:spcPct val="150000"/>
              </a:lnSpc>
            </a:pPr>
            <a:r>
              <a:rPr lang="en-US" sz="2000" b="1" dirty="0">
                <a:latin typeface="Times New Roman" panose="02020603050405020304" pitchFamily="18" charset="0"/>
                <a:cs typeface="Times New Roman" panose="02020603050405020304" pitchFamily="18" charset="0"/>
              </a:rPr>
              <a:t>Data Processing:</a:t>
            </a:r>
            <a:r>
              <a:rPr lang="en-US" sz="2000" dirty="0">
                <a:latin typeface="Times New Roman" panose="02020603050405020304" pitchFamily="18" charset="0"/>
                <a:cs typeface="Times New Roman" panose="02020603050405020304" pitchFamily="18" charset="0"/>
              </a:rPr>
              <a:t> Transcripts are cleaned and organized for better analysis.</a:t>
            </a:r>
          </a:p>
          <a:p>
            <a:pPr>
              <a:lnSpc>
                <a:spcPct val="100000"/>
              </a:lnSpc>
            </a:pPr>
            <a:r>
              <a:rPr lang="en-US" sz="2000" b="1" dirty="0">
                <a:latin typeface="Times New Roman" panose="02020603050405020304" pitchFamily="18" charset="0"/>
                <a:cs typeface="Times New Roman" panose="02020603050405020304" pitchFamily="18" charset="0"/>
              </a:rPr>
              <a:t>Analysis &amp; Scoring:</a:t>
            </a:r>
            <a:r>
              <a:rPr lang="en-US" sz="2000" dirty="0">
                <a:latin typeface="Times New Roman" panose="02020603050405020304" pitchFamily="18" charset="0"/>
                <a:cs typeface="Times New Roman" panose="02020603050405020304" pitchFamily="18" charset="0"/>
              </a:rPr>
              <a:t> Pattern matching is used to detect key phrases (like greeting and resolution), and a rule-based engine assigns scores based on their presence and position.</a:t>
            </a:r>
          </a:p>
          <a:p>
            <a:pPr>
              <a:lnSpc>
                <a:spcPct val="150000"/>
              </a:lnSpc>
            </a:pPr>
            <a:r>
              <a:rPr lang="en-US" sz="2000" b="1" dirty="0">
                <a:latin typeface="Times New Roman" panose="02020603050405020304" pitchFamily="18" charset="0"/>
                <a:cs typeface="Times New Roman" panose="02020603050405020304" pitchFamily="18" charset="0"/>
              </a:rPr>
              <a:t>Batch Processing:</a:t>
            </a:r>
            <a:r>
              <a:rPr lang="en-US" sz="2000" dirty="0">
                <a:latin typeface="Times New Roman" panose="02020603050405020304" pitchFamily="18" charset="0"/>
                <a:cs typeface="Times New Roman" panose="02020603050405020304" pitchFamily="18" charset="0"/>
              </a:rPr>
              <a:t> Spring Batch is used to process large volumes of call data efficiently</a:t>
            </a:r>
          </a:p>
          <a:p>
            <a:pPr>
              <a:lnSpc>
                <a:spcPct val="150000"/>
              </a:lnSpc>
            </a:pPr>
            <a:r>
              <a:rPr lang="en-US" sz="2000" b="1" dirty="0">
                <a:latin typeface="Times New Roman" panose="02020603050405020304" pitchFamily="18" charset="0"/>
                <a:cs typeface="Times New Roman" panose="02020603050405020304" pitchFamily="18" charset="0"/>
              </a:rPr>
              <a:t>Multi-Tenant Support:</a:t>
            </a:r>
            <a:r>
              <a:rPr lang="en-US" sz="2000" dirty="0">
                <a:latin typeface="Times New Roman" panose="02020603050405020304" pitchFamily="18" charset="0"/>
                <a:cs typeface="Times New Roman" panose="02020603050405020304" pitchFamily="18" charset="0"/>
              </a:rPr>
              <a:t> Each client has a separate database, ensuring secure and isolated data handling.</a:t>
            </a:r>
          </a:p>
          <a:p>
            <a:pPr>
              <a:lnSpc>
                <a:spcPct val="100000"/>
              </a:lnSpc>
            </a:pPr>
            <a:r>
              <a:rPr lang="en-US" sz="2000" b="1" dirty="0">
                <a:latin typeface="Times New Roman" panose="02020603050405020304" pitchFamily="18" charset="0"/>
                <a:cs typeface="Times New Roman" panose="02020603050405020304" pitchFamily="18" charset="0"/>
              </a:rPr>
              <a:t>Results:</a:t>
            </a:r>
            <a:r>
              <a:rPr lang="en-US" sz="2000" dirty="0">
                <a:latin typeface="Times New Roman" panose="02020603050405020304" pitchFamily="18" charset="0"/>
                <a:cs typeface="Times New Roman" panose="02020603050405020304" pitchFamily="18" charset="0"/>
              </a:rPr>
              <a:t> Scores and insights are stored and shown on dashboards for performance monitoring. </a:t>
            </a:r>
          </a:p>
          <a:p>
            <a:pPr>
              <a:lnSpc>
                <a:spcPct val="150000"/>
              </a:lnSpc>
            </a:pPr>
            <a:endParaRPr lang="en-US" sz="2000" dirty="0">
              <a:latin typeface="Times New Roman" panose="02020603050405020304" pitchFamily="18" charset="0"/>
              <a:cs typeface="Times New Roman" panose="02020603050405020304" pitchFamily="18" charset="0"/>
            </a:endParaRPr>
          </a:p>
          <a:p>
            <a:pPr marL="0" indent="0">
              <a:lnSpc>
                <a:spcPct val="150000"/>
              </a:lnSpc>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0606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D3B43-277F-419C-5E95-63DCC59B9AF5}"/>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Results &amp; Evaluation</a:t>
            </a:r>
            <a:endParaRPr lang="en-US" dirty="0"/>
          </a:p>
        </p:txBody>
      </p:sp>
      <p:sp>
        <p:nvSpPr>
          <p:cNvPr id="3" name="Subtitle 2">
            <a:extLst>
              <a:ext uri="{FF2B5EF4-FFF2-40B4-BE49-F238E27FC236}">
                <a16:creationId xmlns:a16="http://schemas.microsoft.com/office/drawing/2014/main" id="{8D4898F0-F0EA-A7BC-DCAF-710EBA19EAB0}"/>
              </a:ext>
            </a:extLst>
          </p:cNvPr>
          <p:cNvSpPr>
            <a:spLocks noGrp="1"/>
          </p:cNvSpPr>
          <p:nvPr>
            <p:ph type="subTitle"/>
          </p:nvPr>
        </p:nvSpPr>
        <p:spPr>
          <a:xfrm>
            <a:off x="186267" y="1176867"/>
            <a:ext cx="8839200" cy="5096933"/>
          </a:xfrm>
        </p:spPr>
        <p:txBody>
          <a:bodyPr/>
          <a:lstStyle/>
          <a:p>
            <a:pPr>
              <a:lnSpc>
                <a:spcPct val="150000"/>
              </a:lnSpc>
            </a:pPr>
            <a:r>
              <a:rPr lang="en-US" sz="2000" b="1" dirty="0">
                <a:latin typeface="Times New Roman" panose="02020603050405020304" pitchFamily="18" charset="0"/>
                <a:cs typeface="Times New Roman" panose="02020603050405020304" pitchFamily="18" charset="0"/>
              </a:rPr>
              <a:t>Performance Metrics:</a:t>
            </a:r>
            <a:r>
              <a:rPr lang="en-US" sz="2000" dirty="0">
                <a:latin typeface="Times New Roman" panose="02020603050405020304" pitchFamily="18" charset="0"/>
                <a:cs typeface="Times New Roman" panose="02020603050405020304" pitchFamily="18" charset="0"/>
              </a:rPr>
              <a:t> The system is evaluated based on parameters like accuracy of scoring, consistency, and correctness of detecting key phrases such as greeting, compliance, and resolution.</a:t>
            </a:r>
          </a:p>
          <a:p>
            <a:pPr>
              <a:lnSpc>
                <a:spcPct val="150000"/>
              </a:lnSpc>
            </a:pPr>
            <a:r>
              <a:rPr lang="en-US" sz="2000" b="1" dirty="0">
                <a:latin typeface="Times New Roman" panose="02020603050405020304" pitchFamily="18" charset="0"/>
                <a:cs typeface="Times New Roman" panose="02020603050405020304" pitchFamily="18" charset="0"/>
              </a:rPr>
              <a:t>Validation:</a:t>
            </a:r>
            <a:r>
              <a:rPr lang="en-US" sz="2000" dirty="0">
                <a:latin typeface="Times New Roman" panose="02020603050405020304" pitchFamily="18" charset="0"/>
                <a:cs typeface="Times New Roman" panose="02020603050405020304" pitchFamily="18" charset="0"/>
              </a:rPr>
              <a:t> The results are verified by comparing automated scores with expected outcomes or manual evaluation to ensure reliability.</a:t>
            </a:r>
          </a:p>
          <a:p>
            <a:pPr>
              <a:lnSpc>
                <a:spcPct val="150000"/>
              </a:lnSpc>
            </a:pPr>
            <a:r>
              <a:rPr lang="en-US" sz="2000" b="1" dirty="0">
                <a:latin typeface="Times New Roman" panose="02020603050405020304" pitchFamily="18" charset="0"/>
                <a:cs typeface="Times New Roman" panose="02020603050405020304" pitchFamily="18" charset="0"/>
              </a:rPr>
              <a:t>System Efficiency:</a:t>
            </a:r>
            <a:r>
              <a:rPr lang="en-US" sz="2000" dirty="0">
                <a:latin typeface="Times New Roman" panose="02020603050405020304" pitchFamily="18" charset="0"/>
                <a:cs typeface="Times New Roman" panose="02020603050405020304" pitchFamily="18" charset="0"/>
              </a:rPr>
              <a:t> The system is tested for its ability to handle large volumes of call data efficiently using Spring Batch processing.</a:t>
            </a:r>
          </a:p>
          <a:p>
            <a:pPr>
              <a:lnSpc>
                <a:spcPct val="150000"/>
              </a:lnSpc>
            </a:pPr>
            <a:r>
              <a:rPr lang="en-US" sz="2000" b="1" dirty="0">
                <a:latin typeface="Times New Roman" panose="02020603050405020304" pitchFamily="18" charset="0"/>
                <a:cs typeface="Times New Roman" panose="02020603050405020304" pitchFamily="18" charset="0"/>
              </a:rPr>
              <a:t>Model/Logic Selection:</a:t>
            </a:r>
            <a:r>
              <a:rPr lang="en-US" sz="2000" dirty="0">
                <a:latin typeface="Times New Roman" panose="02020603050405020304" pitchFamily="18" charset="0"/>
                <a:cs typeface="Times New Roman" panose="02020603050405020304" pitchFamily="18" charset="0"/>
              </a:rPr>
              <a:t> The rule-based approach is chosen for its transparency, as each score can be clearly traced back to specific parts of the transcript.</a:t>
            </a:r>
          </a:p>
          <a:p>
            <a:pPr>
              <a:lnSpc>
                <a:spcPct val="150000"/>
              </a:lnSpc>
            </a:pPr>
            <a:r>
              <a:rPr lang="en-US" sz="2000" b="1" dirty="0">
                <a:latin typeface="Times New Roman" panose="02020603050405020304" pitchFamily="18" charset="0"/>
                <a:cs typeface="Times New Roman" panose="02020603050405020304" pitchFamily="18" charset="0"/>
              </a:rPr>
              <a:t>Outcome:</a:t>
            </a:r>
            <a:r>
              <a:rPr lang="en-US" sz="2000" dirty="0">
                <a:latin typeface="Times New Roman" panose="02020603050405020304" pitchFamily="18" charset="0"/>
                <a:cs typeface="Times New Roman" panose="02020603050405020304" pitchFamily="18" charset="0"/>
              </a:rPr>
              <a:t> The system shows reliable and consistent performance in evaluating agent calls, making it effective for real-world call analytics and quality monitoring.</a:t>
            </a:r>
          </a:p>
          <a:p>
            <a:pPr>
              <a:lnSpc>
                <a:spcPct val="150000"/>
              </a:lnSpc>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38064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5360C-B806-B412-6260-BB903BBB1C43}"/>
              </a:ext>
            </a:extLst>
          </p:cNvPr>
          <p:cNvSpPr>
            <a:spLocks noGrp="1"/>
          </p:cNvSpPr>
          <p:nvPr>
            <p:ph type="title"/>
          </p:nvPr>
        </p:nvSpPr>
        <p:spPr/>
        <p:txBody>
          <a:bodyPr/>
          <a:lstStyle/>
          <a:p>
            <a:r>
              <a:rPr lang="en-US" dirty="0"/>
              <a:t>      Future Scope</a:t>
            </a:r>
          </a:p>
        </p:txBody>
      </p:sp>
      <p:sp>
        <p:nvSpPr>
          <p:cNvPr id="3" name="Subtitle 2">
            <a:extLst>
              <a:ext uri="{FF2B5EF4-FFF2-40B4-BE49-F238E27FC236}">
                <a16:creationId xmlns:a16="http://schemas.microsoft.com/office/drawing/2014/main" id="{DFE3B423-A2E9-23D9-5D45-3DF7BAE2AC8D}"/>
              </a:ext>
            </a:extLst>
          </p:cNvPr>
          <p:cNvSpPr>
            <a:spLocks noGrp="1"/>
          </p:cNvSpPr>
          <p:nvPr>
            <p:ph type="subTitle"/>
          </p:nvPr>
        </p:nvSpPr>
        <p:spPr>
          <a:xfrm>
            <a:off x="262467" y="914040"/>
            <a:ext cx="8221133" cy="4792493"/>
          </a:xfrm>
        </p:spPr>
        <p:txBody>
          <a:bodyPr/>
          <a:lstStyle/>
          <a:p>
            <a:pPr>
              <a:lnSpc>
                <a:spcPct val="150000"/>
              </a:lnSpc>
            </a:pPr>
            <a:r>
              <a:rPr lang="en-US" sz="2000" b="1" dirty="0">
                <a:latin typeface="Times New Roman" panose="02020603050405020304" pitchFamily="18" charset="0"/>
                <a:cs typeface="Times New Roman" panose="02020603050405020304" pitchFamily="18" charset="0"/>
              </a:rPr>
              <a:t>Integration of Machine Learning models</a:t>
            </a:r>
            <a:r>
              <a:rPr lang="en-US" sz="2000" dirty="0">
                <a:latin typeface="Times New Roman" panose="02020603050405020304" pitchFamily="18" charset="0"/>
                <a:cs typeface="Times New Roman" panose="02020603050405020304" pitchFamily="18" charset="0"/>
              </a:rPr>
              <a:t> to enhance scoring accuracy and detect complex conversation patterns beyond rule-based logic</a:t>
            </a:r>
          </a:p>
          <a:p>
            <a:pPr>
              <a:lnSpc>
                <a:spcPct val="150000"/>
              </a:lnSpc>
            </a:pPr>
            <a:r>
              <a:rPr lang="en-US" sz="2000" b="1" dirty="0">
                <a:latin typeface="Times New Roman" panose="02020603050405020304" pitchFamily="18" charset="0"/>
                <a:cs typeface="Times New Roman" panose="02020603050405020304" pitchFamily="18" charset="0"/>
              </a:rPr>
              <a:t>Real-time call analysis</a:t>
            </a:r>
            <a:r>
              <a:rPr lang="en-US" sz="2000" dirty="0">
                <a:latin typeface="Times New Roman" panose="02020603050405020304" pitchFamily="18" charset="0"/>
                <a:cs typeface="Times New Roman" panose="02020603050405020304" pitchFamily="18" charset="0"/>
              </a:rPr>
              <a:t> to evaluate agent performance instantly during live calls</a:t>
            </a:r>
          </a:p>
          <a:p>
            <a:pPr>
              <a:lnSpc>
                <a:spcPct val="150000"/>
              </a:lnSpc>
            </a:pPr>
            <a:r>
              <a:rPr lang="en-US" sz="2000" b="1" dirty="0">
                <a:latin typeface="Times New Roman" panose="02020603050405020304" pitchFamily="18" charset="0"/>
                <a:cs typeface="Times New Roman" panose="02020603050405020304" pitchFamily="18" charset="0"/>
              </a:rPr>
              <a:t>Advanced NLP techniques</a:t>
            </a:r>
            <a:r>
              <a:rPr lang="en-US" sz="2000" dirty="0">
                <a:latin typeface="Times New Roman" panose="02020603050405020304" pitchFamily="18" charset="0"/>
                <a:cs typeface="Times New Roman" panose="02020603050405020304" pitchFamily="18" charset="0"/>
              </a:rPr>
              <a:t> for better understanding of customer sentiment, intent, and contextual meaning</a:t>
            </a:r>
          </a:p>
          <a:p>
            <a:pPr>
              <a:lnSpc>
                <a:spcPct val="150000"/>
              </a:lnSpc>
            </a:pPr>
            <a:r>
              <a:rPr lang="en-US" sz="2000" b="1" dirty="0">
                <a:latin typeface="Times New Roman" panose="02020603050405020304" pitchFamily="18" charset="0"/>
                <a:cs typeface="Times New Roman" panose="02020603050405020304" pitchFamily="18" charset="0"/>
              </a:rPr>
              <a:t>Multilingual support</a:t>
            </a:r>
            <a:r>
              <a:rPr lang="en-US" sz="2000" dirty="0">
                <a:latin typeface="Times New Roman" panose="02020603050405020304" pitchFamily="18" charset="0"/>
                <a:cs typeface="Times New Roman" panose="02020603050405020304" pitchFamily="18" charset="0"/>
              </a:rPr>
              <a:t> to analyze calls in multiple languages for wider applicability across regions </a:t>
            </a:r>
          </a:p>
          <a:p>
            <a:pPr>
              <a:lnSpc>
                <a:spcPct val="150000"/>
              </a:lnSpc>
            </a:pPr>
            <a:endParaRPr lang="en-US" sz="2000" dirty="0">
              <a:latin typeface="Times New Roman" panose="02020603050405020304" pitchFamily="18" charset="0"/>
              <a:cs typeface="Times New Roman" panose="02020603050405020304" pitchFamily="18" charset="0"/>
            </a:endParaRPr>
          </a:p>
          <a:p>
            <a:pPr>
              <a:lnSpc>
                <a:spcPct val="150000"/>
              </a:lnSpc>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57136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Conclusion</a:t>
            </a: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rPr>
              <a:pPr algn="r">
                <a:lnSpc>
                  <a:spcPct val="100000"/>
                </a:lnSpc>
              </a:pPr>
              <a:t>9</a:t>
            </a:fld>
            <a:endParaRPr lang="en-US" sz="1200" b="1" strike="noStrike" spc="-1">
              <a:solidFill>
                <a:srgbClr val="000000"/>
              </a:solidFill>
              <a:latin typeface="Calibri"/>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marL="457200" lvl="0" indent="-317500">
              <a:buClr>
                <a:srgbClr val="000000"/>
              </a:buClr>
              <a:buSzPts val="1400"/>
              <a:buChar char="●"/>
            </a:pPr>
            <a:r>
              <a:rPr lang="en-US" sz="2000" dirty="0">
                <a:solidFill>
                  <a:srgbClr val="000000"/>
                </a:solidFill>
                <a:latin typeface="Times New Roman" panose="02020603050405020304" pitchFamily="18" charset="0"/>
              </a:rPr>
              <a:t>CallSight demonstrates that automated call analytics can close the quality gap at enterprise scale.</a:t>
            </a:r>
          </a:p>
          <a:p>
            <a:pPr marL="457200" lvl="0" indent="-317500">
              <a:buClr>
                <a:srgbClr val="000000"/>
              </a:buClr>
              <a:buSzPts val="1400"/>
              <a:buChar char="●"/>
            </a:pPr>
            <a:r>
              <a:rPr lang="en-US" sz="2000" dirty="0">
                <a:solidFill>
                  <a:srgbClr val="000000"/>
                </a:solidFill>
                <a:latin typeface="Times New Roman" panose="02020603050405020304" pitchFamily="18" charset="0"/>
              </a:rPr>
              <a:t>End-to-end pipeline eliminates the fragmentation typical of current manual QA practices.</a:t>
            </a:r>
          </a:p>
          <a:p>
            <a:pPr marL="457200" lvl="0" indent="-317500">
              <a:buClr>
                <a:srgbClr val="000000"/>
              </a:buClr>
              <a:buSzPts val="1400"/>
              <a:buChar char="●"/>
            </a:pPr>
            <a:r>
              <a:rPr lang="en-US" sz="2000" dirty="0">
                <a:solidFill>
                  <a:srgbClr val="000000"/>
                </a:solidFill>
                <a:latin typeface="Times New Roman" panose="02020603050405020304" pitchFamily="18" charset="0"/>
              </a:rPr>
              <a:t>Five quality dimensions are scored deterministically — consistent, auditable, and fast.</a:t>
            </a:r>
          </a:p>
          <a:p>
            <a:pPr marL="457200" lvl="0" indent="-317500">
              <a:buClr>
                <a:srgbClr val="000000"/>
              </a:buClr>
              <a:buSzPts val="1400"/>
              <a:buChar char="●"/>
            </a:pPr>
            <a:r>
              <a:rPr lang="en-US" sz="2000" dirty="0">
                <a:solidFill>
                  <a:srgbClr val="000000"/>
                </a:solidFill>
                <a:latin typeface="Times New Roman" panose="02020603050405020304" pitchFamily="18" charset="0"/>
              </a:rPr>
              <a:t>Approximately 85% reduction in manual review effort with 100% call coverage achieved in pilot.</a:t>
            </a:r>
          </a:p>
          <a:p>
            <a:pPr marL="457200" lvl="0" indent="-317500">
              <a:buClr>
                <a:srgbClr val="000000"/>
              </a:buClr>
              <a:buSzPts val="1400"/>
              <a:buChar char="●"/>
            </a:pPr>
            <a:r>
              <a:rPr lang="en-US" sz="2000" dirty="0">
                <a:solidFill>
                  <a:srgbClr val="000000"/>
                </a:solidFill>
                <a:latin typeface="Times New Roman" panose="02020603050405020304" pitchFamily="18" charset="0"/>
              </a:rPr>
              <a:t>Extensible architecture: new tenants, languages, and models can be added without restructuring.</a:t>
            </a:r>
          </a:p>
          <a:p>
            <a:pPr marL="457200" lvl="0" indent="-317500">
              <a:buClr>
                <a:srgbClr val="000000"/>
              </a:buClr>
              <a:buSzPts val="1400"/>
              <a:buChar char="●"/>
            </a:pPr>
            <a:r>
              <a:rPr lang="en-US" sz="2000" dirty="0">
                <a:solidFill>
                  <a:srgbClr val="000000"/>
                </a:solidFill>
                <a:latin typeface="Times New Roman" panose="02020603050405020304" pitchFamily="18" charset="0"/>
              </a:rPr>
              <a:t>As ASR accuracy improves and compliance pressure intensifies, automated call analytics will become standard infrastructure.</a:t>
            </a:r>
          </a:p>
          <a:p>
            <a:pPr marL="457200" lvl="0" indent="-317500">
              <a:buClr>
                <a:srgbClr val="000000"/>
              </a:buClr>
              <a:buSzPts val="1400"/>
              <a:buChar char="●"/>
            </a:pPr>
            <a:r>
              <a:rPr lang="en-US" sz="2000" dirty="0">
                <a:solidFill>
                  <a:srgbClr val="000000"/>
                </a:solidFill>
                <a:latin typeface="Times New Roman" panose="02020603050405020304" pitchFamily="18" charset="0"/>
              </a:rPr>
              <a:t>CallSight serves as a working, empirically evaluated reference implementation for the industry.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10</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2.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
  <TotalTime>34749</TotalTime>
  <Words>932</Words>
  <Application>Microsoft Office PowerPoint</Application>
  <PresentationFormat>On-screen Show (4:3)</PresentationFormat>
  <Paragraphs>62</Paragraphs>
  <Slides>10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Cambria</vt:lpstr>
      <vt:lpstr>Times New Roman</vt:lpstr>
      <vt:lpstr>Office Theme</vt:lpstr>
      <vt:lpstr>PowerPoint Presentation</vt:lpstr>
      <vt:lpstr>PowerPoint Presentation</vt:lpstr>
      <vt:lpstr>PowerPoint Presentation</vt:lpstr>
      <vt:lpstr>            Objective</vt:lpstr>
      <vt:lpstr>    Literature Review</vt:lpstr>
      <vt:lpstr>Methodology</vt:lpstr>
      <vt:lpstr>Results &amp; Evaluation</vt:lpstr>
      <vt:lpstr>      Future Scope</vt:lpstr>
      <vt:lpstr>PowerPoint Presentation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Sarbraj Singh</cp:lastModifiedBy>
  <cp:revision>2306</cp:revision>
  <dcterms:created xsi:type="dcterms:W3CDTF">2010-04-09T07:36:15Z</dcterms:created>
  <dcterms:modified xsi:type="dcterms:W3CDTF">2026-05-01T06:03:53Z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